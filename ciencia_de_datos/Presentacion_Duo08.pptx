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LABORATORIO EVALUATIVO 2 · CIENCIA DE DATOS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21792" y="1060704"/>
            <a:ext cx="10835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¿Es Pulpa la línea con mayor</a:t>
            </a:r>
            <a:endParaRPr lang="en-US" sz="3500" dirty="0"/>
          </a:p>
          <a:p>
            <a:pPr indent="0" marL="0">
              <a:buNone/>
            </a:pPr>
            <a:r>
              <a:rPr lang="en-US" sz="35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costo energético por kilogramo?</a:t>
            </a:r>
            <a:endParaRPr lang="en-US" sz="3500" dirty="0"/>
          </a:p>
        </p:txBody>
      </p:sp>
      <p:sp>
        <p:nvSpPr>
          <p:cNvPr id="6" name="Shape 4"/>
          <p:cNvSpPr/>
          <p:nvPr/>
        </p:nvSpPr>
        <p:spPr>
          <a:xfrm>
            <a:off x="640080" y="2761488"/>
            <a:ext cx="4114800" cy="0"/>
          </a:xfrm>
          <a:prstGeom prst="line">
            <a:avLst/>
          </a:prstGeom>
          <a:noFill/>
          <a:ln w="63500">
            <a:solidFill>
              <a:srgbClr val="F2B54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31363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Conservera del Maule · Dúo 08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813048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Período analizado: mayo–agosto de 2026 · Datos simulados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640080" y="4983480"/>
            <a:ext cx="10424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Método: sanear → integrar → validar → comparar escenarios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 · FUENTES Y PREGUNTA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Cuatro fuentes, una medida comparable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Buscamos el costo energético por kg producido, no el gasto total de cada línea.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1874520"/>
            <a:ext cx="5166360" cy="1517904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874520"/>
            <a:ext cx="73152" cy="1517904"/>
          </a:xfrm>
          <a:prstGeom prst="rect">
            <a:avLst/>
          </a:prstGeom>
          <a:solidFill>
            <a:srgbClr val="2563A5"/>
          </a:solidFill>
          <a:ln w="12700">
            <a:solidFill>
              <a:srgbClr val="2563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075688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· Cargos energéticos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2523744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641 filas · montos, moneda, orden, línea y estado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062472" y="1874520"/>
            <a:ext cx="5440680" cy="1517904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62472" y="1874520"/>
            <a:ext cx="73152" cy="1517904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63640" y="2075688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· Producción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63640" y="2523744"/>
            <a:ext cx="5056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595 filas · kilos o toneladas por orden y turno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1792" y="3666744"/>
            <a:ext cx="5166360" cy="1517904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" y="3666744"/>
            <a:ext cx="73152" cy="1517904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867912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 · Dólar observado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22960" y="4315968"/>
            <a:ext cx="478231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104 observaciones · conversión de USD a CLP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062472" y="3666744"/>
            <a:ext cx="5440680" cy="1517904"/>
          </a:xfrm>
          <a:prstGeom prst="roundRect">
            <a:avLst>
              <a:gd name="adj" fmla="val 7831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062472" y="3666744"/>
            <a:ext cx="73152" cy="1517904"/>
          </a:xfrm>
          <a:prstGeom prst="rect">
            <a:avLst/>
          </a:prstGeom>
          <a:solidFill>
            <a:srgbClr val="2563A5"/>
          </a:solidFill>
          <a:ln w="12700">
            <a:solidFill>
              <a:srgbClr val="2563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3867912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Maestro de líneas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263640" y="4315968"/>
            <a:ext cx="505663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filas · códigos actuales e históricos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" y="5852160"/>
            <a:ext cx="10881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GRANO FINAL: una fila por orden de producción; primero se agregan cargos y kilos por separado.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 · CALIDAD Y REGLAS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Saneamiento antes de la integración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se borran registros sin criterio: se clasifican los anulados, faltantes y casos en revisión.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85800" y="1938528"/>
            <a:ext cx="5285232" cy="126187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2075688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641 → 633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886968" y="2596896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Cargos tras conservar la versión más reciente (R2)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1938528"/>
            <a:ext cx="5285232" cy="126187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10528" y="2075688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2500" dirty="0"/>
          </a:p>
        </p:txBody>
      </p:sp>
      <p:sp>
        <p:nvSpPr>
          <p:cNvPr id="12" name="Text 10"/>
          <p:cNvSpPr/>
          <p:nvPr/>
        </p:nvSpPr>
        <p:spPr>
          <a:xfrm>
            <a:off x="6510528" y="2596896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Versiones anteriores conservadas en CSV de auditoría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456432"/>
            <a:ext cx="5285232" cy="126187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3593592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503 / 130</a:t>
            </a:r>
            <a:endParaRPr lang="en-US" sz="2500" dirty="0"/>
          </a:p>
        </p:txBody>
      </p:sp>
      <p:sp>
        <p:nvSpPr>
          <p:cNvPr id="15" name="Text 13"/>
          <p:cNvSpPr/>
          <p:nvPr/>
        </p:nvSpPr>
        <p:spPr>
          <a:xfrm>
            <a:off x="886968" y="4114800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Cargos válidos / fuera del cálculo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3456432"/>
            <a:ext cx="5285232" cy="1261872"/>
          </a:xfrm>
          <a:prstGeom prst="roundRect">
            <a:avLst>
              <a:gd name="adj" fmla="val 10870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10528" y="3593592"/>
            <a:ext cx="475488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56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570</a:t>
            </a:r>
            <a:endParaRPr lang="en-US" sz="2500" dirty="0"/>
          </a:p>
        </p:txBody>
      </p:sp>
      <p:sp>
        <p:nvSpPr>
          <p:cNvPr id="18" name="Text 16"/>
          <p:cNvSpPr/>
          <p:nvPr/>
        </p:nvSpPr>
        <p:spPr>
          <a:xfrm>
            <a:off x="6510528" y="4114800"/>
            <a:ext cx="4837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Registros válidos de producción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13232" y="5321808"/>
            <a:ext cx="1088136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130 fuera del cálculo: 65 anulados · 51 en revisión · 8 línea desconocida · 6 sin datos.
Producción: 595 → 570 (25 no válidos). Control: ±1 %, fechas, domingos, códigos y kg/ton.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· INTEGRACIÓN Y TRAZABILIDAD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orden = una fila, sin multiplicar costos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normaliza op/ref_op como op_key; groupby por orden antes de merge uno a uno.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1920240"/>
            <a:ext cx="3291840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" y="1920240"/>
            <a:ext cx="73152" cy="1508760"/>
          </a:xfrm>
          <a:prstGeom prst="rect">
            <a:avLst/>
          </a:prstGeom>
          <a:solidFill>
            <a:srgbClr val="2563A5"/>
          </a:solidFill>
          <a:ln w="12700">
            <a:solidFill>
              <a:srgbClr val="2563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212140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· Cargos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59536" y="2569464"/>
            <a:ext cx="290779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suman por orden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 se valida el costo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453128" y="1920240"/>
            <a:ext cx="3310128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53128" y="1920240"/>
            <a:ext cx="73152" cy="1508760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2121408"/>
            <a:ext cx="2944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· Producción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654296" y="2569464"/>
            <a:ext cx="292608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suman kilos válidos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orden y turnos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57032" y="1920240"/>
            <a:ext cx="3273552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57032" y="1920240"/>
            <a:ext cx="73152" cy="150876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121408"/>
            <a:ext cx="2907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+ B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458200" y="2569464"/>
            <a:ext cx="288950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Unión por op_key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validate=one_to_one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986784" y="2670048"/>
            <a:ext cx="402336" cy="0"/>
          </a:xfrm>
          <a:prstGeom prst="line">
            <a:avLst/>
          </a:prstGeom>
          <a:noFill/>
          <a:ln w="25400">
            <a:solidFill>
              <a:srgbClr val="2563A5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18120" y="2670048"/>
            <a:ext cx="384048" cy="0"/>
          </a:xfrm>
          <a:prstGeom prst="line">
            <a:avLst/>
          </a:prstGeom>
          <a:noFill/>
          <a:ln w="25400">
            <a:solidFill>
              <a:srgbClr val="2563A5"/>
            </a:solidFill>
            <a:prstDash val="solid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713232" y="3904488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187 órdenes únicas en A · 22 sin pareja en B · 6 órdenes solo en B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85800" y="4754880"/>
            <a:ext cx="10826496" cy="1024128"/>
          </a:xfrm>
          <a:prstGeom prst="roundRect">
            <a:avLst>
              <a:gd name="adj" fmla="val 12500"/>
            </a:avLst>
          </a:prstGeom>
          <a:solidFill>
            <a:srgbClr val="E8F5F3"/>
          </a:solidFill>
          <a:ln w="12700">
            <a:solidFill>
              <a:srgbClr val="CAE5E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98348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Trazabilidad: cargo original + moneda + fecha y valor del dólar + regla aplicada.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 · RESULTADO Y SENSIBILIDAD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Pulpa lidera en los dos escenarios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CLP por kilogramo · cálculo como razón de totales, no promedio de razones.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84708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43784" y="1847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· Conservador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013448" y="184708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· Alternativo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6384" y="2359152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Pulpa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2852928" y="2386584"/>
            <a:ext cx="3044266" cy="256032"/>
          </a:xfrm>
          <a:prstGeom prst="rect">
            <a:avLst/>
          </a:prstGeom>
          <a:solidFill>
            <a:srgbClr val="2563A5"/>
          </a:solidFill>
          <a:ln w="12700">
            <a:solidFill>
              <a:srgbClr val="2563A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08192" y="2359152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48,25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013448" y="2386584"/>
            <a:ext cx="2571942" cy="256032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122408" y="2359152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46,11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" y="3035808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Mixta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2852928" y="3063240"/>
            <a:ext cx="2642360" cy="256032"/>
          </a:xfrm>
          <a:prstGeom prst="rect">
            <a:avLst/>
          </a:prstGeom>
          <a:solidFill>
            <a:srgbClr val="2563A5"/>
          </a:solidFill>
          <a:ln w="12700">
            <a:solidFill>
              <a:srgbClr val="2563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08192" y="3035808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41,88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013448" y="3063240"/>
            <a:ext cx="2047067" cy="256032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22408" y="3035808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36,70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86384" y="3712464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2852928" y="3739896"/>
            <a:ext cx="2534470" cy="256032"/>
          </a:xfrm>
          <a:prstGeom prst="rect">
            <a:avLst/>
          </a:prstGeom>
          <a:solidFill>
            <a:srgbClr val="2563A5"/>
          </a:solidFill>
          <a:ln w="12700">
            <a:solidFill>
              <a:srgbClr val="2563A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8192" y="3712464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40,17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013448" y="3739896"/>
            <a:ext cx="2136313" cy="256032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22408" y="3712464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38,30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86384" y="4389120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Durazno</a:t>
            </a:r>
            <a:endParaRPr lang="en-US" sz="1700" dirty="0"/>
          </a:p>
        </p:txBody>
      </p:sp>
      <p:sp>
        <p:nvSpPr>
          <p:cNvPr id="26" name="Shape 24"/>
          <p:cNvSpPr/>
          <p:nvPr/>
        </p:nvSpPr>
        <p:spPr>
          <a:xfrm>
            <a:off x="2852928" y="4416552"/>
            <a:ext cx="2504816" cy="256032"/>
          </a:xfrm>
          <a:prstGeom prst="rect">
            <a:avLst/>
          </a:prstGeom>
          <a:solidFill>
            <a:srgbClr val="2563A5"/>
          </a:solidFill>
          <a:ln w="12700">
            <a:solidFill>
              <a:srgbClr val="2563A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08192" y="4389120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39,70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013448" y="4416552"/>
            <a:ext cx="1987384" cy="256032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122408" y="4389120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35,63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86384" y="5065776"/>
            <a:ext cx="18288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Tomate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2852928" y="5093208"/>
            <a:ext cx="2268215" cy="256032"/>
          </a:xfrm>
          <a:prstGeom prst="rect">
            <a:avLst/>
          </a:prstGeom>
          <a:solidFill>
            <a:srgbClr val="2563A5"/>
          </a:solidFill>
          <a:ln w="12700">
            <a:solidFill>
              <a:srgbClr val="2563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08192" y="5065776"/>
            <a:ext cx="731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35,95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013448" y="5093208"/>
            <a:ext cx="1767617" cy="256032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22408" y="5065776"/>
            <a:ext cx="7498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31,69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58952" y="587044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122 órdenes completas · B: incluye órdenes parciales · Pulpa supera a Mixta en 6,37 CLP/kg (+15,2 %) [A]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0C7C86"/>
          </a:solidFill>
          <a:ln w="12700">
            <a:solidFill>
              <a:srgbClr val="0C7C8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10058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 · RESPUESTA Y DEFENSA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835640" y="6510528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/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Sí, dentro de la cobertura validada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08813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Pulpa presenta el mayor costo; no podemos extrapolar automáticamente a toda la operación.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892040" cy="1508760"/>
          </a:xfrm>
          <a:prstGeom prst="roundRect">
            <a:avLst>
              <a:gd name="adj" fmla="val 8485"/>
            </a:avLst>
          </a:prstGeom>
          <a:solidFill>
            <a:srgbClr val="E7F5F5"/>
          </a:solidFill>
          <a:ln w="12700">
            <a:solidFill>
              <a:srgbClr val="C4DE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103120"/>
            <a:ext cx="43891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C7C8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$48,25 / kg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914400" y="273405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Pulpa · escenario conservador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815584" y="1828800"/>
            <a:ext cx="5605272" cy="1508760"/>
          </a:xfrm>
          <a:prstGeom prst="roundRect">
            <a:avLst>
              <a:gd name="adj" fmla="val 7879"/>
            </a:avLst>
          </a:prstGeom>
          <a:solidFill>
            <a:srgbClr val="FFFFFF"/>
          </a:solidFill>
          <a:ln w="12700">
            <a:solidFill>
              <a:srgbClr val="DDE5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5584" y="1828800"/>
            <a:ext cx="73152" cy="1508760"/>
          </a:xfrm>
          <a:prstGeom prst="rect">
            <a:avLst/>
          </a:prstGeom>
          <a:solidFill>
            <a:srgbClr val="F2B544"/>
          </a:solidFill>
          <a:ln w="12700">
            <a:solidFill>
              <a:srgbClr val="F2B5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2029968"/>
            <a:ext cx="52395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016752" y="2478024"/>
            <a:ext cx="522122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160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122 órdenes comparables de 187; 65 fuera del escenario 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13232" y="3767328"/>
            <a:ext cx="9966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para defensa: OP-1005 · dólar del 14/07/2026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713232" y="4288536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USD 813,95 × $922,14 + CLP 79.488 = CLP 830.063,85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3232" y="4773168"/>
            <a:ext cx="107899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524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CLP 830.063,85 / 30.163,32 kg = 27,52 CLP/kg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04088" y="5769864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44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Límite: cargos en revisión, kilos incompletos y definición de los conceptos energéticos.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Costo energético por kilogramo · Dúo 08</dc:title>
  <dc:subject>Defensa Evaluativo 2</dc:subject>
  <dc:creator>Ciencia de Datos · Dúo 08</dc:creator>
  <cp:lastModifiedBy>Ciencia de Datos · Dúo 08</cp:lastModifiedBy>
  <cp:revision>1</cp:revision>
  <dcterms:created xsi:type="dcterms:W3CDTF">2026-10-16T02:21:03Z</dcterms:created>
  <dcterms:modified xsi:type="dcterms:W3CDTF">2026-10-16T02:21:03Z</dcterms:modified>
</cp:coreProperties>
</file>